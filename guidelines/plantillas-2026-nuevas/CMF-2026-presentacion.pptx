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s-CL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103" Type="http://schemas.openxmlformats.org/officeDocument/2006/relationships/image" Target="../media/fondo-portada.jpe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105" Type="http://schemas.openxmlformats.org/officeDocument/2006/relationships/image" Target="../media/separador-seccion.jpe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103" Type="http://schemas.openxmlformats.org/officeDocument/2006/relationships/image" Target="../media/fondo-portada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Portada CM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 portada CMF" descr="Fondo institucional CMF 2026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"/>
          <p:cNvSpPr>
            <a:spLocks noGrp="1"/>
          </p:cNvSpPr>
          <p:nvPr>
            <p:ph type="ctrTitle"/>
          </p:nvPr>
        </p:nvSpPr>
        <p:spPr>
          <a:xfrm>
            <a:off x="6537960" y="2743200"/>
            <a:ext cx="4709160" cy="155448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95000"/>
              </a:lnSpc>
              <a:buNone/>
              <a:defRPr sz="4000" b="1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Título de la presentación</a:t>
            </a:r>
          </a:p>
        </p:txBody>
      </p:sp>
      <p:sp>
        <p:nvSpPr>
          <p:cNvPr id="4" name="Subtítulo"/>
          <p:cNvSpPr>
            <a:spLocks noGrp="1"/>
          </p:cNvSpPr>
          <p:nvPr>
            <p:ph type="subTitle" idx="1"/>
          </p:nvPr>
        </p:nvSpPr>
        <p:spPr>
          <a:xfrm>
            <a:off x="6537960" y="4407408"/>
            <a:ext cx="4709160" cy="658368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1800" b="0">
                <a:solidFill>
                  <a:srgbClr val="1E2A33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Subtítulo o bajada</a:t>
            </a:r>
          </a:p>
        </p:txBody>
      </p:sp>
      <p:sp>
        <p:nvSpPr>
          <p:cNvPr id="5" name="Datos"/>
          <p:cNvSpPr>
            <a:spLocks noGrp="1"/>
          </p:cNvSpPr>
          <p:nvPr>
            <p:ph type="body" idx="2"/>
          </p:nvPr>
        </p:nvSpPr>
        <p:spPr>
          <a:xfrm>
            <a:off x="6537960" y="5175504"/>
            <a:ext cx="4709160" cy="86868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30000"/>
              </a:lnSpc>
              <a:buNone/>
              <a:defRPr sz="1300" b="0">
                <a:solidFill>
                  <a:srgbClr val="55606B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Comisión para el Mercado Financiero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parador de sección CMF" descr="Gráfica institucional CMF 2026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ntetítulo"/>
          <p:cNvSpPr>
            <a:spLocks noGrp="1"/>
          </p:cNvSpPr>
          <p:nvPr>
            <p:ph type="body" idx="2"/>
          </p:nvPr>
        </p:nvSpPr>
        <p:spPr>
          <a:xfrm>
            <a:off x="5577840" y="2514600"/>
            <a:ext cx="5882640" cy="292608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1200" b="1" cap="all" spc="200">
                <a:solidFill>
                  <a:srgbClr val="0E6E68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Sección 01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5577840" y="2880360"/>
            <a:ext cx="5882640" cy="146304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3600" b="1">
                <a:solidFill>
                  <a:srgbClr val="0B2545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Título de la sección</a:t>
            </a:r>
          </a:p>
        </p:txBody>
      </p:sp>
      <p:sp>
        <p:nvSpPr>
          <p:cNvPr id="5" name="Número de diapositiva"/>
          <p:cNvSpPr>
            <a:spLocks noGrp="1"/>
          </p:cNvSpPr>
          <p:nvPr>
            <p:ph type="sldNum" sz="quarter" idx="7"/>
          </p:nvPr>
        </p:nvSpPr>
        <p:spPr>
          <a:xfrm>
            <a:off x="10774680" y="6071616"/>
            <a:ext cx="685800" cy="256032"/>
          </a:xfrm>
        </p:spPr>
        <p:txBody>
          <a:bodyPr anchor="ctr" lIns="0" tIns="0" rIns="0" bIns="0"/>
          <a:lstStyle>
            <a:lvl1pPr algn="r">
              <a:defRPr sz="1000">
                <a:solidFill>
                  <a:srgbClr val="8A939B"/>
                </a:solidFill>
                <a:latin typeface="Verdana"/>
              </a:defRPr>
            </a:lvl1pPr>
          </a:lstStyle>
          <a:p>
            <a:fld id="{B6F15528-21DE-4FAA-801E-634DDDAF4B2B}" type="slidenum">
              <a:rPr lang="es-CL"/>
              <a:t>1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3" name="Contenido"/>
          <p:cNvSpPr>
            <a:spLocks noGrp="1"/>
          </p:cNvSpPr>
          <p:nvPr>
            <p:ph type="body" idx="1"/>
          </p:nvPr>
        </p:nvSpPr>
        <p:spPr>
          <a:xfrm>
            <a:off x="1335024" y="1197864"/>
            <a:ext cx="10125456" cy="502005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6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4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2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3" name="Columna izquierda"/>
          <p:cNvSpPr>
            <a:spLocks noGrp="1"/>
          </p:cNvSpPr>
          <p:nvPr>
            <p:ph type="body" idx="1"/>
          </p:nvPr>
        </p:nvSpPr>
        <p:spPr>
          <a:xfrm>
            <a:off x="1335024" y="1197864"/>
            <a:ext cx="4879848" cy="502005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5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3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1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  <p:sp>
        <p:nvSpPr>
          <p:cNvPr id="4" name="Columna derecha"/>
          <p:cNvSpPr>
            <a:spLocks noGrp="1"/>
          </p:cNvSpPr>
          <p:nvPr>
            <p:ph type="body" idx="2"/>
          </p:nvPr>
        </p:nvSpPr>
        <p:spPr>
          <a:xfrm>
            <a:off x="6580632" y="1197864"/>
            <a:ext cx="4879848" cy="502005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5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3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1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3" name="Texto"/>
          <p:cNvSpPr>
            <a:spLocks noGrp="1"/>
          </p:cNvSpPr>
          <p:nvPr>
            <p:ph type="body" idx="1"/>
          </p:nvPr>
        </p:nvSpPr>
        <p:spPr>
          <a:xfrm>
            <a:off x="1335024" y="1197864"/>
            <a:ext cx="5187696" cy="502005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5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3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1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  <p:sp>
        <p:nvSpPr>
          <p:cNvPr id="4" name="Imagen"/>
          <p:cNvSpPr>
            <a:spLocks noGrp="1"/>
          </p:cNvSpPr>
          <p:nvPr>
            <p:ph type="pic" idx="2"/>
          </p:nvPr>
        </p:nvSpPr>
        <p:spPr>
          <a:xfrm>
            <a:off x="6888480" y="1197864"/>
            <a:ext cx="4572000" cy="5020056"/>
          </a:xfrm>
        </p:spPr>
        <p:txBody>
          <a:bodyPr anchor="ctr" lIns="0" tIns="0" rIns="0" bIns="0" wrap="square">
            <a:normAutofit/>
          </a:bodyPr>
          <a:lstStyle>
            <a:lvl1pPr algn="ctr">
              <a:lnSpc>
                <a:spcPct val="100000"/>
              </a:lnSpc>
              <a:buNone/>
              <a:defRPr sz="1200" b="0">
                <a:solidFill>
                  <a:srgbClr val="8A939B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to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3" name="Tarjeta"/>
          <p:cNvSpPr/>
          <p:nvPr/>
        </p:nvSpPr>
        <p:spPr>
          <a:xfrm>
            <a:off x="1335024" y="1197864"/>
            <a:ext cx="10125456" cy="23774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" name="Cifra"/>
          <p:cNvSpPr>
            <a:spLocks noGrp="1"/>
          </p:cNvSpPr>
          <p:nvPr>
            <p:ph type="body" idx="1"/>
          </p:nvPr>
        </p:nvSpPr>
        <p:spPr>
          <a:xfrm>
            <a:off x="1837944" y="1563624"/>
            <a:ext cx="9119616" cy="1188720"/>
          </a:xfrm>
        </p:spPr>
        <p:txBody>
          <a:bodyPr anchor="ctr" lIns="0" tIns="0" rIns="0" bIns="0" wrap="square">
            <a:normAutofit/>
          </a:bodyPr>
          <a:lstStyle>
            <a:lvl1pPr algn="ctr">
              <a:lnSpc>
                <a:spcPct val="95000"/>
              </a:lnSpc>
              <a:buNone/>
              <a:defRPr sz="66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15,6 %</a:t>
            </a:r>
          </a:p>
        </p:txBody>
      </p:sp>
      <p:sp>
        <p:nvSpPr>
          <p:cNvPr id="5" name="Descripción de la cifra"/>
          <p:cNvSpPr>
            <a:spLocks noGrp="1"/>
          </p:cNvSpPr>
          <p:nvPr>
            <p:ph type="body" idx="2"/>
          </p:nvPr>
        </p:nvSpPr>
        <p:spPr>
          <a:xfrm>
            <a:off x="1837944" y="2770632"/>
            <a:ext cx="9119616" cy="713232"/>
          </a:xfrm>
        </p:spPr>
        <p:txBody>
          <a:bodyPr anchor="t" lIns="0" tIns="0" rIns="0" bIns="0" wrap="square">
            <a:normAutofit/>
          </a:bodyPr>
          <a:lstStyle>
            <a:lvl1pPr algn="ctr">
              <a:lnSpc>
                <a:spcPct val="125000"/>
              </a:lnSpc>
              <a:buNone/>
              <a:defRPr sz="1600" b="0">
                <a:solidFill>
                  <a:srgbClr val="55606B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Descripción de la cifra destacada</a:t>
            </a:r>
          </a:p>
        </p:txBody>
      </p:sp>
      <p:sp>
        <p:nvSpPr>
          <p:cNvPr id="6" name="Nota"/>
          <p:cNvSpPr>
            <a:spLocks noGrp="1"/>
          </p:cNvSpPr>
          <p:nvPr>
            <p:ph type="body" idx="3"/>
          </p:nvPr>
        </p:nvSpPr>
        <p:spPr>
          <a:xfrm>
            <a:off x="1335024" y="3849624"/>
            <a:ext cx="10125456" cy="548640"/>
          </a:xfrm>
        </p:spPr>
        <p:txBody>
          <a:bodyPr anchor="t" lIns="0" tIns="0" rIns="0" bIns="0" wrap="square">
            <a:normAutofit/>
          </a:bodyPr>
          <a:lstStyle>
            <a:lvl1pPr algn="ctr">
              <a:lnSpc>
                <a:spcPct val="130000"/>
              </a:lnSpc>
              <a:buNone/>
              <a:defRPr sz="1100" b="0">
                <a:solidFill>
                  <a:srgbClr val="8A939B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Serie y fuente del dato.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a 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3" name="Tabla o gráfico"/>
          <p:cNvSpPr>
            <a:spLocks noGrp="1"/>
          </p:cNvSpPr>
          <p:nvPr>
            <p:ph type="body" idx="1"/>
          </p:nvPr>
        </p:nvSpPr>
        <p:spPr>
          <a:xfrm>
            <a:off x="1335024" y="1197864"/>
            <a:ext cx="10125456" cy="447141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4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2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0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  <p:sp>
        <p:nvSpPr>
          <p:cNvPr id="4" name="Fuente"/>
          <p:cNvSpPr>
            <a:spLocks noGrp="1"/>
          </p:cNvSpPr>
          <p:nvPr>
            <p:ph type="body" idx="2"/>
          </p:nvPr>
        </p:nvSpPr>
        <p:spPr>
          <a:xfrm>
            <a:off x="1335024" y="5760720"/>
            <a:ext cx="10125456" cy="32004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1000" b="0">
                <a:solidFill>
                  <a:srgbClr val="8A939B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Fuente: Comisión para el Mercado Financiero.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ndo portada CMF" descr="Fondo institucional CMF 2026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ítulo"/>
          <p:cNvSpPr>
            <a:spLocks noGrp="1"/>
          </p:cNvSpPr>
          <p:nvPr>
            <p:ph type="title"/>
          </p:nvPr>
        </p:nvSpPr>
        <p:spPr>
          <a:xfrm>
            <a:off x="6537960" y="2743200"/>
            <a:ext cx="4709160" cy="100584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4000" b="1">
                <a:solidFill>
                  <a:srgbClr val="0070C0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Gracias</a:t>
            </a:r>
          </a:p>
        </p:txBody>
      </p:sp>
      <p:sp>
        <p:nvSpPr>
          <p:cNvPr id="4" name="Contacto"/>
          <p:cNvSpPr>
            <a:spLocks noGrp="1"/>
          </p:cNvSpPr>
          <p:nvPr>
            <p:ph type="body" idx="1"/>
          </p:nvPr>
        </p:nvSpPr>
        <p:spPr>
          <a:xfrm>
            <a:off x="6537960" y="4023360"/>
            <a:ext cx="4709160" cy="1737360"/>
          </a:xfrm>
        </p:spPr>
        <p:txBody>
          <a:bodyPr anchor="t" lIns="0" tIns="0" rIns="0" bIns="0" wrap="square">
            <a:normAutofit/>
          </a:bodyPr>
          <a:lstStyle>
            <a:lvl1pPr algn="l">
              <a:lnSpc>
                <a:spcPct val="140000"/>
              </a:lnSpc>
              <a:buNone/>
              <a:defRPr sz="1500" b="0">
                <a:solidFill>
                  <a:srgbClr val="55606B"/>
                </a:solidFill>
                <a:latin typeface="Verdana"/>
                <a:cs typeface="Verdana"/>
              </a:defRPr>
            </a:lvl1pPr>
          </a:lstStyle>
          <a:p>
            <a:r>
              <a:rPr lang="es-CL" dirty="0"/>
              <a:t>Comisión para el Mercado Financiero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01" Type="http://schemas.openxmlformats.org/officeDocument/2006/relationships/image" Target="../media/marca-agua-cmf.png"/><Relationship Id="rId102" Type="http://schemas.openxmlformats.org/officeDocument/2006/relationships/image" Target="../media/franja-pie.jpeg"/><Relationship Id="rId20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 de agua CMF" descr="Logo CMF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01752" y="173736"/>
            <a:ext cx="795528" cy="764438"/>
          </a:xfrm>
          <a:prstGeom prst="rect">
            <a:avLst/>
          </a:prstGeom>
        </p:spPr>
      </p:pic>
      <p:pic>
        <p:nvPicPr>
          <p:cNvPr id="3" name="Franja institucional" descr="www.cmfchile.cl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6488582"/>
            <a:ext cx="12192000" cy="369418"/>
          </a:xfrm>
          <a:prstGeom prst="rect">
            <a:avLst/>
          </a:prstGeom>
        </p:spPr>
      </p:pic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1335024" y="146304"/>
            <a:ext cx="10125456" cy="804672"/>
          </a:xfrm>
        </p:spPr>
        <p:txBody>
          <a:bodyPr anchor="ctr" lIns="0" tIns="0" rIns="0" bIns="0" wrap="square">
            <a:normAutofit/>
          </a:bodyPr>
          <a:lstStyle>
            <a:lvl1pPr algn="l">
              <a:lnSpc>
                <a:spcPct val="100000"/>
              </a:lnSpc>
              <a:buNone/>
              <a:defRPr sz="2400" b="1">
                <a:solidFill>
                  <a:srgbClr val="375D9E"/>
                </a:solidFill>
                <a:latin typeface="Verdana"/>
                <a:cs typeface="Verdana"/>
              </a:defRPr>
            </a:lvl1pPr>
          </a:lstStyle>
          <a:p>
            <a:endParaRPr lang="es-CL"/>
          </a:p>
        </p:txBody>
      </p:sp>
      <p:sp>
        <p:nvSpPr>
          <p:cNvPr id="5" name="Contenido"/>
          <p:cNvSpPr>
            <a:spLocks noGrp="1"/>
          </p:cNvSpPr>
          <p:nvPr>
            <p:ph type="body" idx="1"/>
          </p:nvPr>
        </p:nvSpPr>
        <p:spPr>
          <a:xfrm>
            <a:off x="1335024" y="1197864"/>
            <a:ext cx="10125456" cy="5020056"/>
          </a:xfrm>
        </p:spPr>
        <p:txBody>
          <a:bodyPr anchor="t" lIns="0" tIns="0" rIns="0" bIns="0" wrap="square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buClr>
                <a:srgbClr val="375D9E"/>
              </a:buClr>
              <a:buFont typeface="Arial"/>
              <a:buChar char="•"/>
              <a:defRPr sz="1600" b="0">
                <a:solidFill>
                  <a:srgbClr val="1E2A33"/>
                </a:solidFill>
                <a:latin typeface="Verdana"/>
                <a:cs typeface="Verdana"/>
              </a:defRPr>
            </a:lvl1pPr>
            <a:lvl2pPr marL="457200" indent="-228600">
              <a:spcBef>
                <a:spcPts val="400"/>
              </a:spcBef>
              <a:buClr>
                <a:srgbClr val="8A939B"/>
              </a:buClr>
              <a:buFont typeface="Arial"/>
              <a:buChar char="–"/>
              <a:defRPr sz="1400">
                <a:solidFill>
                  <a:srgbClr val="55606B"/>
                </a:solidFill>
                <a:latin typeface="Verdana"/>
                <a:cs typeface="Verdana"/>
              </a:defRPr>
            </a:lvl2pPr>
            <a:lvl3pPr marL="685800" indent="-228600">
              <a:buClr>
                <a:srgbClr val="8A939B"/>
              </a:buClr>
              <a:buFont typeface="Arial"/>
              <a:buChar char="·"/>
              <a:defRPr sz="1200">
                <a:solidFill>
                  <a:srgbClr val="55606B"/>
                </a:solidFill>
                <a:latin typeface="Verdana"/>
                <a:cs typeface="Verdana"/>
              </a:defRPr>
            </a:lvl3pPr>
          </a:lstStyle>
          <a:p>
            <a:endParaRPr lang="es-CL"/>
          </a:p>
        </p:txBody>
      </p:sp>
      <p:sp>
        <p:nvSpPr>
          <p:cNvPr id="6" name="Número de diapositiva"/>
          <p:cNvSpPr>
            <a:spLocks noGrp="1"/>
          </p:cNvSpPr>
          <p:nvPr>
            <p:ph type="sldNum" sz="quarter" idx="7"/>
          </p:nvPr>
        </p:nvSpPr>
        <p:spPr>
          <a:xfrm>
            <a:off x="10774680" y="6071616"/>
            <a:ext cx="685800" cy="256032"/>
          </a:xfrm>
        </p:spPr>
        <p:txBody>
          <a:bodyPr anchor="ctr" lIns="0" tIns="0" rIns="0" bIns="0"/>
          <a:lstStyle>
            <a:lvl1pPr algn="r">
              <a:defRPr sz="1000">
                <a:solidFill>
                  <a:srgbClr val="8A939B"/>
                </a:solidFill>
                <a:latin typeface="Verdana"/>
              </a:defRPr>
            </a:lvl1pPr>
          </a:lstStyle>
          <a:p>
            <a:fld id="{B6F15528-21DE-4FAA-801E-634DDDAF4B2B}" type="slidenum">
              <a:rPr lang="es-CL"/>
              <a:t>1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2400" b="1">
          <a:solidFill>
            <a:srgbClr val="375D9E"/>
          </a:solidFill>
          <a:latin typeface="Verdana"/>
          <a:cs typeface="Verdana"/>
        </a:defRPr>
      </a:lvl1pPr>
    </p:titleStyle>
    <p:bodyStyle>
      <a:lvl1pPr marL="228600" indent="-228600">
        <a:spcBef>
          <a:spcPts val="600"/>
        </a:spcBef>
        <a:buClr>
          <a:srgbClr val="375D9E"/>
        </a:buClr>
        <a:buFont typeface="Arial"/>
        <a:buChar char="•"/>
        <a:defRPr sz="1600">
          <a:solidFill>
            <a:srgbClr val="1E2A33"/>
          </a:solidFill>
          <a:latin typeface="Verdana"/>
          <a:cs typeface="Verdana"/>
        </a:defRPr>
      </a:lvl1pPr>
      <a:lvl2pPr marL="457200" indent="-228600">
        <a:spcBef>
          <a:spcPts val="600"/>
        </a:spcBef>
        <a:buClr>
          <a:srgbClr val="375D9E"/>
        </a:buClr>
        <a:buFont typeface="Arial"/>
        <a:buChar char="–"/>
        <a:defRPr sz="1400">
          <a:solidFill>
            <a:srgbClr val="55606B"/>
          </a:solidFill>
          <a:latin typeface="Verdana"/>
          <a:cs typeface="Verdana"/>
        </a:defRPr>
      </a:lvl2pPr>
      <a:lvl3pPr marL="685800" indent="-228600">
        <a:spcBef>
          <a:spcPts val="600"/>
        </a:spcBef>
        <a:buClr>
          <a:srgbClr val="375D9E"/>
        </a:buClr>
        <a:buFont typeface="Arial"/>
        <a:buChar char="·"/>
        <a:defRPr sz="1200">
          <a:solidFill>
            <a:srgbClr val="55606B"/>
          </a:solidFill>
          <a:latin typeface="Verdana"/>
          <a:cs typeface="Verdana"/>
        </a:defRPr>
      </a:lvl3pPr>
      <a:lvl4pPr marL="914400" indent="-228600">
        <a:spcBef>
          <a:spcPts val="600"/>
        </a:spcBef>
        <a:buClr>
          <a:srgbClr val="375D9E"/>
        </a:buClr>
        <a:buFont typeface="Arial"/>
        <a:buChar char="·"/>
        <a:defRPr sz="1200">
          <a:solidFill>
            <a:srgbClr val="55606B"/>
          </a:solidFill>
          <a:latin typeface="Verdana"/>
          <a:cs typeface="Verdana"/>
        </a:defRPr>
      </a:lvl4pPr>
      <a:lvl5pPr marL="1143000" indent="-228600">
        <a:spcBef>
          <a:spcPts val="600"/>
        </a:spcBef>
        <a:buClr>
          <a:srgbClr val="375D9E"/>
        </a:buClr>
        <a:buFont typeface="Arial"/>
        <a:buChar char="·"/>
        <a:defRPr sz="1200">
          <a:solidFill>
            <a:srgbClr val="55606B"/>
          </a:solidFill>
          <a:latin typeface="Verdana"/>
          <a:cs typeface="Verdana"/>
        </a:defRPr>
      </a:lvl5pPr>
    </p:bodyStyle>
    <p:otherStyle>
      <a:lvl1pPr>
        <a:defRPr sz="1400">
          <a:solidFill>
            <a:srgbClr val="1E2A33"/>
          </a:solidFill>
          <a:latin typeface="Verdana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s-CL" dirty="0"/>
              <a:t>Título de la presentación</a:t>
            </a:r>
          </a:p>
        </p:txBody>
      </p:sp>
      <p:sp>
        <p:nvSpPr>
          <p:cNvPr id="3" name="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s-CL" dirty="0"/>
              <a:t>Subtítulo o bajada de la presentación</a:t>
            </a:r>
          </a:p>
        </p:txBody>
      </p:sp>
      <p:sp>
        <p:nvSpPr>
          <p:cNvPr id="4" name="Datos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es-CL" dirty="0"/>
              <a:t>Comisión para el Mercado Financiero</a:t>
            </a:r>
          </a:p>
          <a:p>
            <a:pPr/>
            <a:r>
              <a:rPr lang="es-CL" dirty="0"/>
              <a:t>Santiago, mes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etítulo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es-CL" dirty="0"/>
              <a:t>Sección 01</a:t>
            </a:r>
          </a:p>
        </p:txBody>
      </p:sp>
      <p:sp>
        <p:nvSpPr>
          <p:cNvPr id="3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Título de la sección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Título y contenido</a:t>
            </a:r>
          </a:p>
        </p:txBody>
      </p:sp>
      <p:sp>
        <p:nvSpPr>
          <p:cNvPr id="3" name="Contenid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Primer punto de la exposición.</a:t>
            </a:r>
          </a:p>
          <a:p>
            <a:pPr/>
            <a:r>
              <a:rPr lang="es-CL" dirty="0"/>
              <a:t>Segundo punto, con un nivel dependiente.</a:t>
            </a:r>
          </a:p>
          <a:p>
            <a:pPr lvl="1"/>
            <a:r>
              <a:rPr lang="es-CL" dirty="0"/>
              <a:t>Detalle de segundo nivel.</a:t>
            </a:r>
          </a:p>
          <a:p>
            <a:pPr lvl="2"/>
            <a:r>
              <a:rPr lang="es-CL" dirty="0"/>
              <a:t>Precisión de tercer nivel.</a:t>
            </a:r>
          </a:p>
          <a:p>
            <a:pPr/>
            <a:r>
              <a:rPr lang="es-CL" dirty="0"/>
              <a:t>Tercer punto de la exposición.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Dos columnas</a:t>
            </a:r>
          </a:p>
        </p:txBody>
      </p:sp>
      <p:sp>
        <p:nvSpPr>
          <p:cNvPr id="3" name="Columna izquierda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Contenido de la columna izquierda.</a:t>
            </a:r>
          </a:p>
          <a:p>
            <a:pPr/>
            <a:r>
              <a:rPr lang="es-CL" dirty="0"/>
              <a:t>Segundo punto.</a:t>
            </a:r>
          </a:p>
        </p:txBody>
      </p:sp>
      <p:sp>
        <p:nvSpPr>
          <p:cNvPr id="4" name="Columna derecha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es-CL" dirty="0"/>
              <a:t>Contenido de la columna derecha.</a:t>
            </a:r>
          </a:p>
          <a:p>
            <a:pPr/>
            <a:r>
              <a:rPr lang="es-CL" dirty="0"/>
              <a:t>Segundo punto.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Texto e imagen</a:t>
            </a:r>
          </a:p>
        </p:txBody>
      </p:sp>
      <p:sp>
        <p:nvSpPr>
          <p:cNvPr id="3" name="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El texto ocupa la columna izquierda.</a:t>
            </a:r>
          </a:p>
          <a:p>
            <a:pPr/>
            <a:r>
              <a:rPr lang="es-CL" dirty="0"/>
              <a:t>La imagen se inserta en el marcador de la derecha.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Dato destacado</a:t>
            </a:r>
          </a:p>
        </p:txBody>
      </p:sp>
      <p:sp>
        <p:nvSpPr>
          <p:cNvPr id="3" name="Cifra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15,6 %</a:t>
            </a:r>
          </a:p>
        </p:txBody>
      </p:sp>
      <p:sp>
        <p:nvSpPr>
          <p:cNvPr id="4" name="Descripción de la cifra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es-CL" dirty="0"/>
              <a:t>Crecimiento anual de las colocaciones del sistema bancario</a:t>
            </a:r>
          </a:p>
        </p:txBody>
      </p:sp>
      <p:sp>
        <p:nvSpPr>
          <p:cNvPr id="5" name="Nota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 lang="es-CL" dirty="0"/>
              <a:t>Serie a diciembre de 2025. Fuente: CMF.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Tabla o gráfico</a:t>
            </a:r>
          </a:p>
        </p:txBody>
      </p:sp>
      <p:sp>
        <p:nvSpPr>
          <p:cNvPr id="3" name="Tabla o gráfic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Inserta aquí la tabla o el gráfico.</a:t>
            </a:r>
          </a:p>
        </p:txBody>
      </p:sp>
      <p:sp>
        <p:nvSpPr>
          <p:cNvPr id="4" name="Fuente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lang="es-CL" dirty="0"/>
              <a:t>Fuente: Comisión para el Mercado Financiero.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Solo título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s-CL" dirty="0"/>
              <a:t>Gracias</a:t>
            </a:r>
          </a:p>
        </p:txBody>
      </p:sp>
      <p:sp>
        <p:nvSpPr>
          <p:cNvPr id="3" name="Contac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s-CL" dirty="0"/>
              <a:t>Comisión para el Mercado Financiero</a:t>
            </a:r>
          </a:p>
          <a:p>
            <a:pPr/>
            <a:r>
              <a:rPr lang="es-CL" dirty="0"/>
              <a:t>www.cmfchile.cl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F 2026">
  <a:themeElements>
    <a:clrScheme name="CMF 2026">
      <a:dk1>
        <a:srgbClr val="1E2A33"/>
      </a:dk1>
      <a:lt1>
        <a:srgbClr val="FFFFFF"/>
      </a:lt1>
      <a:dk2>
        <a:srgbClr val="162C55"/>
      </a:dk2>
      <a:lt2>
        <a:srgbClr val="F5F5F4"/>
      </a:lt2>
      <a:accent1>
        <a:srgbClr val="5B2B82"/>
      </a:accent1>
      <a:accent2>
        <a:srgbClr val="8547AD"/>
      </a:accent2>
      <a:accent3>
        <a:srgbClr val="162C55"/>
      </a:accent3>
      <a:accent4>
        <a:srgbClr val="12A095"/>
      </a:accent4>
      <a:accent5>
        <a:srgbClr val="3F3A7E"/>
      </a:accent5>
      <a:accent6>
        <a:srgbClr val="717271"/>
      </a:accent6>
      <a:hlink>
        <a:srgbClr val="5B2B82"/>
      </a:hlink>
      <a:folHlink>
        <a:srgbClr val="4A2169"/>
      </a:folHlink>
    </a:clrScheme>
    <a:fontScheme name="CMF 202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CMF 2026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chemeClr val="phClr">
            <a:shade val="90000"/>
          </a:schemeClr>
        </a:solidFill>
      </a:fillStyleLst>
      <a:lnStyleLst>
        <a:ln w="9525" cap="flat">
          <a:solidFill>
            <a:schemeClr val="phClr"/>
          </a:solidFill>
          <a:prstDash val="solid"/>
        </a:ln>
        <a:ln w="19050" cap="flat">
          <a:solidFill>
            <a:schemeClr val="phClr"/>
          </a:solidFill>
          <a:prstDash val="solid"/>
        </a:ln>
        <a:ln w="28575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>
            <a:solidFill>
              <a:schemeClr val="lt1"/>
            </a:solidFill>
            <a:latin typeface="Verdana"/>
            <a:cs typeface="Verdana"/>
          </a:defRPr>
        </a:defPPr>
      </a:lstStyle>
    </a:spDef>
    <a:lnDef>
      <a:spPr>
        <a:ln w="19050" cap="rnd">
          <a:solidFill>
            <a:schemeClr val="accent1"/>
          </a:solidFill>
          <a:round/>
        </a:ln>
      </a:spPr>
      <a:bodyPr rtlCol="0"/>
      <a:lstStyle>
        <a:defPPr>
          <a:defRPr sz="1400">
            <a:solidFill>
              <a:schemeClr val="tx1"/>
            </a:solidFill>
            <a:latin typeface="Verdana"/>
            <a:cs typeface="Verdana"/>
          </a:defRPr>
        </a:defPPr>
      </a:lstStyle>
    </a:lnDef>
    <a:txDef>
      <a:spPr>
        <a:noFill/>
        <a:ln>
          <a:noFill/>
        </a:ln>
      </a:spPr>
      <a:bodyPr wrap="square" rtlCol="0">
        <a:spAutoFit/>
      </a:bodyPr>
      <a:lstStyle>
        <a:defPPr>
          <a:defRPr sz="1400">
            <a:solidFill>
              <a:schemeClr val="tx1"/>
            </a:solidFill>
            <a:latin typeface="Verdana"/>
            <a:cs typeface="Verdana"/>
          </a:defRPr>
        </a:defPPr>
      </a:lstStyle>
    </a:txDef>
  </a:objectDefaults>
  <a:extraClrSchemeLst/>
  <a:custClrLst>
    <a:custClr name="Morado CMF">
      <a:srgbClr val="5B2B82"/>
    </a:custClr>
    <a:custClr name="Morado claro">
      <a:srgbClr val="8547AD"/>
    </a:custClr>
    <a:custClr name="Navy institucional">
      <a:srgbClr val="162C55"/>
    </a:custClr>
    <a:custClr name="Teal CMF">
      <a:srgbClr val="12A095"/>
    </a:custClr>
    <a:custClr name="Índigo">
      <a:srgbClr val="3F3A7E"/>
    </a:custClr>
    <a:custClr name="Gris CMF">
      <a:srgbClr val="717271"/>
    </a:custClr>
    <a:custClr name="Morado oscuro">
      <a:srgbClr val="4A2169"/>
    </a:custClr>
    <a:custClr name="Morado 300">
      <a:srgbClr val="B68FD0"/>
    </a:custClr>
    <a:custClr name="Morado 100">
      <a:srgbClr val="ECE1F3"/>
    </a:custClr>
    <a:custClr name="Morado 50">
      <a:srgbClr val="F6F1FA"/>
    </a:custClr>
    <a:custClr name="Azul de títulos">
      <a:srgbClr val="375D9E"/>
    </a:custClr>
    <a:custClr name="Azul de portada">
      <a:srgbClr val="0070C0"/>
    </a:custClr>
    <a:custClr name="Teal profundo">
      <a:srgbClr val="0E6E68"/>
    </a:custClr>
    <a:custClr name="Teal suave">
      <a:srgbClr val="97D6D2"/>
    </a:custClr>
    <a:custClr name="Teal 50">
      <a:srgbClr val="E4F4F2"/>
    </a:custClr>
    <a:custClr name="Gris oscuro">
      <a:srgbClr val="575756"/>
    </a:custClr>
    <a:custClr name="Gris 300">
      <a:srgbClr val="BCBCBB"/>
    </a:custClr>
    <a:custClr name="Gris 100">
      <a:srgbClr val="E9E9E8"/>
    </a:custClr>
    <a:custClr name="Gris 50">
      <a:srgbClr val="F5F5F4"/>
    </a:custClr>
    <a:custClr name="Éxito">
      <a:srgbClr val="1E8A5B"/>
    </a:custClr>
    <a:custClr name="Advertencia">
      <a:srgbClr val="B97708"/>
    </a:custClr>
    <a:custClr name="Error">
      <a:srgbClr val="C0392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10</Slides>
  <Company>Comisión para el Mercado Financiero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institucional CMF 2026</dc:title>
  <dc:subject>Presentación institucional</dc:subject>
  <dc:creator>Comisión para el Mercado Financiero</dc:creator>
  <cp:keywords>CMF; plantilla; 2026; presentación</cp:keywords>
  <cp:category>Plantilla institucional</cp:category>
  <cp:lastModifiedBy>Comisión para el Mercado Financiero</cp:lastModifiedBy>
  <dcterms:created xsi:type="dcterms:W3CDTF">2026-09-03T00:36:20Z</dcterms:created>
  <dcterms:modified xsi:type="dcterms:W3CDTF">2026-09-03T00:36:20Z</dcterms:modified>
  <cp:revision>1</cp:revision>
</cp:coreProperties>
</file>